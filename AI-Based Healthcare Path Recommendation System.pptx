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0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B993-9678-3A5D-E55A-022D572C9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D17BC5-AF55-DCD2-CA1D-5D5C20DC9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4F14F-3A74-6A92-FE2C-695FDB68F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4DCAB-5BF5-48C2-85D2-3D48457A196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EC87E-ACB7-2182-3B60-1665E08B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50C7C-13BD-1F11-7539-547C0E1AA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4618-8221-4EF9-B387-0F6823E4B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43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BDBF-A76D-57EB-811A-F8C0BFF29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B50FD-B49C-B286-5F23-F7CE8DE13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D2675-3D11-CDB3-D88B-9FAD1A909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4DCAB-5BF5-48C2-85D2-3D48457A196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703CC-877B-23A6-9AD1-A4F1C4F9D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6E774-7662-19BB-0226-85026DD9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4618-8221-4EF9-B387-0F6823E4B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9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A6A1-E9ED-4A76-857A-760EE94C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F5D79-8DCE-39A4-50D2-BF7AF4268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50864-FE51-FF52-23B4-06EB7E7B0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4DCAB-5BF5-48C2-85D2-3D48457A196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0857C-D78A-0E36-5B23-9FE3ACB0E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4C185-98F1-A0B8-4575-C54687AC1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4618-8221-4EF9-B387-0F6823E4B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276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9A82A-D856-21AD-417B-82A167CC7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6E83A-96B3-63D2-89E9-513B47EFDB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7FAD6-B8C1-56A5-D39E-88172E819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82B8D-0943-7430-D683-19BD1396F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4DCAB-5BF5-48C2-85D2-3D48457A196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DC11B-A1B9-2B5D-2E9A-9C0B0B92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5BAA0-46BC-3C79-10D7-9CEDCBCCE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4618-8221-4EF9-B387-0F6823E4B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45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401BB-D543-6679-1143-D48A54629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B38E0-7826-384C-F8ED-E94C5C1E0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F2D1DC-B2FE-7E46-42DF-FE8729F64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A2FD98-2E10-3262-8C34-9868B2687C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2C5DBB-A1C1-48C6-755E-81FD29FA5C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4F03EA-CD02-EE90-E631-B669E652B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4DCAB-5BF5-48C2-85D2-3D48457A196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124FCD-9021-554E-FA6D-B8707F143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97272-8B91-80B4-D05B-ED74F403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4618-8221-4EF9-B387-0F6823E4B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390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739F-7F73-F2C9-0577-05D66B857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684119-4595-74EE-C459-F441BEBFE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4DCAB-5BF5-48C2-85D2-3D48457A196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98E55A-1680-C41E-AD8B-DB8FDC6A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79248-71E0-9055-752C-FA787A20E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4618-8221-4EF9-B387-0F6823E4B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749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89E693-092A-7A97-4F38-058104775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4DCAB-5BF5-48C2-85D2-3D48457A196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8BBD2B-3B21-32A9-5DD8-53849E469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6537D-BDAF-C65E-AE7D-F386A8F20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4618-8221-4EF9-B387-0F6823E4B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1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FA26-41D5-12C3-A97B-8968F5317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9F473-D01F-016E-E50D-2C541D038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8508D-F48A-46ED-0495-42A070E74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8F33D-2AA2-5DD0-FE74-04DAE6B3C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4DCAB-5BF5-48C2-85D2-3D48457A196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9667F-CC72-39BB-6D78-BBC587FD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0E1C7-AB2D-D6FB-54BC-3703C7808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4618-8221-4EF9-B387-0F6823E4B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051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6751-1D3F-E07A-E4C7-CD31B1F27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52BD50-00A7-A345-D132-98DCDEEE67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45F0E-6A34-3297-B832-7974194C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F441E-B29D-4109-8A40-E6352399B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4DCAB-5BF5-48C2-85D2-3D48457A196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28305-1ED8-B4AF-51D8-5D1C518D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02148-DDFD-DB0B-4325-DCB0786C6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4618-8221-4EF9-B387-0F6823E4B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436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31FEA-FE67-2D48-818B-2E9F0E685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146A3-F41E-5E3A-A3A3-B4D04E4DF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92BA5-9200-EC33-C354-535E27F8C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4DCAB-5BF5-48C2-85D2-3D48457A196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8F2B2-6B6D-721E-D80D-4E823E3CB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EE847-19F0-FFDD-A6FA-75CA1450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4618-8221-4EF9-B387-0F6823E4B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0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9AC880-57CD-6B39-60C4-E76FEB4C96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30D30-96EE-2B2D-0008-B5DA1D3B9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44506-6FB0-B0F2-6F31-2C8B494B6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4DCAB-5BF5-48C2-85D2-3D48457A196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C18D5-3566-B4DF-62E0-730AA3E9D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77E0E-222B-491B-97D6-4FACA4241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4618-8221-4EF9-B387-0F6823E4B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349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6EBD8C-381C-3E0F-462F-81AB4D69D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710EB-0AAD-A977-2F47-872215AF8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CE660-7D46-37C7-DFFD-07CA6A34B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4DCAB-5BF5-48C2-85D2-3D48457A196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8D4B8-7A9B-1D49-3743-D586DA046E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BB2E1-C2A8-8532-80ED-AD78D57E3B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A4618-8221-4EF9-B387-0F6823E4B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69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19017-07C2-0B7A-E251-6D02F0668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3059"/>
            <a:ext cx="9144000" cy="1964725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sz="4800" b="1" dirty="0"/>
              <a:t>AI-Based Healthcare Path Recommendation System</a:t>
            </a:r>
            <a:endParaRPr lang="en-IN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081B8-CCFE-B7A7-3186-E80809208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44347"/>
            <a:ext cx="9374659" cy="2582561"/>
          </a:xfrm>
        </p:spPr>
        <p:txBody>
          <a:bodyPr>
            <a:normAutofit lnSpcReduction="10000"/>
          </a:bodyPr>
          <a:lstStyle/>
          <a:p>
            <a:r>
              <a:rPr lang="en-US" u="sng" dirty="0"/>
              <a:t>Personalized and Affordable Healthcare Decision Support using AI &amp; ML</a:t>
            </a:r>
          </a:p>
          <a:p>
            <a:endParaRPr lang="en-US" u="sng" dirty="0"/>
          </a:p>
          <a:p>
            <a:endParaRPr lang="en-US" u="sng" dirty="0"/>
          </a:p>
          <a:p>
            <a:r>
              <a:rPr lang="en-US" dirty="0"/>
              <a:t>Presented By-Ashwini Joshi</a:t>
            </a:r>
          </a:p>
          <a:p>
            <a:endParaRPr lang="en-US" dirty="0"/>
          </a:p>
          <a:p>
            <a:r>
              <a:rPr lang="en-US" dirty="0" err="1"/>
              <a:t>M.Tech</a:t>
            </a:r>
            <a:r>
              <a:rPr lang="en-US" dirty="0"/>
              <a:t> –AIML-(Semester I)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6540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2D33D-6A76-A35A-63F1-C5C54367D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7D225-8167-E1CB-A578-B993DE11F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In the modern digital world, individuals often turn to unverified online sources for health guidance, which may result in misinformation and unsafe self-treatment.</a:t>
            </a:r>
          </a:p>
          <a:p>
            <a:r>
              <a:rPr lang="en-US" dirty="0"/>
              <a:t>There is a growing need for an intelligent, AI-powered healthcare recommendation system that assists users in choosing the most suitable treatment path based on their symptoms, urgency, and preferences.</a:t>
            </a:r>
          </a:p>
          <a:p>
            <a:r>
              <a:rPr lang="en-US" dirty="0"/>
              <a:t>The proposed system leverages Artificial Intelligence (AI) and Machine Learning (ML) to analyze user input, assess disease severity, and recommend an appropriate response — such as self-care, doctor consultation, or emergency care.</a:t>
            </a:r>
          </a:p>
          <a:p>
            <a:r>
              <a:rPr lang="en-US" dirty="0"/>
              <a:t>Additionally, the system integrates location-based and cost-effective healthcare options while offering personalized lifestyle and preventive wellness suggestions like diet, yoga, or exercise tips.</a:t>
            </a:r>
          </a:p>
          <a:p>
            <a:r>
              <a:rPr lang="en-US" dirty="0"/>
              <a:t>This approach aims to bridge the gap between traditional and modern healthcare decision-making, ensuring timely and accurate medical guidance for users.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2996CF74-F7EB-E664-0F19-FE7F651B163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10469976"/>
                  </p:ext>
                </p:extLst>
              </p:nvPr>
            </p:nvGraphicFramePr>
            <p:xfrm>
              <a:off x="4849933" y="5568264"/>
              <a:ext cx="3048000" cy="1714500"/>
            </p:xfrm>
            <a:graphic>
              <a:graphicData uri="http://schemas.microsoft.com/office/powerpoint/2016/slidezoom">
                <pslz:sldZm>
                  <pslz:sldZmObj sldId="257" cId="1502838225">
                    <pslz:zmPr id="{7635C2A1-F878-4419-B097-104365896204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2996CF74-F7EB-E664-0F19-FE7F651B163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49933" y="5568264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5896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EDC75-F1E6-AB5A-F827-AF58F64A2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b="1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A304C-5162-37AE-E75C-E53D54441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today’s digital era, individuals often rely on unverified online sources for medical advice.</a:t>
            </a:r>
          </a:p>
          <a:p>
            <a:r>
              <a:rPr lang="en-US" dirty="0"/>
              <a:t>Patients struggle to choose between suitable path as per their health.</a:t>
            </a:r>
          </a:p>
          <a:p>
            <a:r>
              <a:rPr lang="en-US" dirty="0"/>
              <a:t>There is a lack of intelligent, AI-driven systems that can analyze an individual’s health condition, preferences, and urgency level to recommend the most suitable treatment path.</a:t>
            </a:r>
          </a:p>
          <a:p>
            <a:r>
              <a:rPr lang="en-US" dirty="0"/>
              <a:t>Moreover, patients often need affordable, nearby healthcare options and personalized lifestyle guidance for recovery and prevention.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2838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69918-9075-A3D8-E5A7-8614324C8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4A34B-4DC4-6809-6952-B141D0C1B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develop an AI-powered healthcare decision support system that helps users select the most effective and suitable treatment path.</a:t>
            </a:r>
          </a:p>
          <a:p>
            <a:r>
              <a:rPr lang="en-US" dirty="0"/>
              <a:t>To use Machine Learning and NLP to interpret symptoms and predict severity.</a:t>
            </a:r>
          </a:p>
          <a:p>
            <a:r>
              <a:rPr lang="en-US" dirty="0"/>
              <a:t>To recommend nearby and affordable healthcare options using geolocation data.</a:t>
            </a:r>
          </a:p>
          <a:p>
            <a:r>
              <a:rPr lang="en-US" dirty="0"/>
              <a:t>To provide personalized wellness and lifestyle guidance for preventive care.</a:t>
            </a:r>
          </a:p>
          <a:p>
            <a:r>
              <a:rPr lang="en-US" dirty="0"/>
              <a:t>To ensure recommendations are trustworthy, transparent, and user-friendly.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1218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AE82-C014-48C5-8F8D-30D74BDF8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dirty="0"/>
              <a:t>Literature Survey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3709C2F-31AF-0B93-2D2D-E033D36A57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8970111"/>
              </p:ext>
            </p:extLst>
          </p:nvPr>
        </p:nvGraphicFramePr>
        <p:xfrm>
          <a:off x="630195" y="1690688"/>
          <a:ext cx="9465523" cy="3783356"/>
        </p:xfrm>
        <a:graphic>
          <a:graphicData uri="http://schemas.openxmlformats.org/drawingml/2006/table">
            <a:tbl>
              <a:tblPr/>
              <a:tblGrid>
                <a:gridCol w="2428939">
                  <a:extLst>
                    <a:ext uri="{9D8B030D-6E8A-4147-A177-3AD203B41FA5}">
                      <a16:colId xmlns:a16="http://schemas.microsoft.com/office/drawing/2014/main" val="3718735579"/>
                    </a:ext>
                  </a:extLst>
                </a:gridCol>
                <a:gridCol w="3518292">
                  <a:extLst>
                    <a:ext uri="{9D8B030D-6E8A-4147-A177-3AD203B41FA5}">
                      <a16:colId xmlns:a16="http://schemas.microsoft.com/office/drawing/2014/main" val="1188767844"/>
                    </a:ext>
                  </a:extLst>
                </a:gridCol>
                <a:gridCol w="3518292">
                  <a:extLst>
                    <a:ext uri="{9D8B030D-6E8A-4147-A177-3AD203B41FA5}">
                      <a16:colId xmlns:a16="http://schemas.microsoft.com/office/drawing/2014/main" val="2519856068"/>
                    </a:ext>
                  </a:extLst>
                </a:gridCol>
              </a:tblGrid>
              <a:tr h="5820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Existing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Limitation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698589"/>
                  </a:ext>
                </a:extLst>
              </a:tr>
              <a:tr h="1018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Symptom Checker Apps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Suggest possible diseases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Lack personalized treatment guidance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597658"/>
                  </a:ext>
                </a:extLst>
              </a:tr>
              <a:tr h="582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Online Health Forums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User-driven advice sharing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Often unreliable or unverified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170951"/>
                  </a:ext>
                </a:extLst>
              </a:tr>
              <a:tr h="582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Fitness/Wellness Apps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Focus on tracking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 medical or severity assessment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335317"/>
                  </a:ext>
                </a:extLst>
              </a:tr>
              <a:tr h="1018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 Health Bots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Offer generic answers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Ignore cost, urgency, or proximity factors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8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2974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8AFE-3E07-072C-9E54-5EB94EFE3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dirty="0"/>
              <a:t>Gap Analysis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160DA6B-DC0C-1B61-B53A-A433E5A5E3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2305455"/>
              </p:ext>
            </p:extLst>
          </p:nvPr>
        </p:nvGraphicFramePr>
        <p:xfrm>
          <a:off x="838200" y="1821065"/>
          <a:ext cx="9170773" cy="3012580"/>
        </p:xfrm>
        <a:graphic>
          <a:graphicData uri="http://schemas.openxmlformats.org/drawingml/2006/table">
            <a:tbl>
              <a:tblPr/>
              <a:tblGrid>
                <a:gridCol w="4746025">
                  <a:extLst>
                    <a:ext uri="{9D8B030D-6E8A-4147-A177-3AD203B41FA5}">
                      <a16:colId xmlns:a16="http://schemas.microsoft.com/office/drawing/2014/main" val="146572429"/>
                    </a:ext>
                  </a:extLst>
                </a:gridCol>
                <a:gridCol w="4424748">
                  <a:extLst>
                    <a:ext uri="{9D8B030D-6E8A-4147-A177-3AD203B41FA5}">
                      <a16:colId xmlns:a16="http://schemas.microsoft.com/office/drawing/2014/main" val="1292427180"/>
                    </a:ext>
                  </a:extLst>
                </a:gridCol>
              </a:tblGrid>
              <a:tr h="5931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Gap Identified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Proposed 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238149"/>
                  </a:ext>
                </a:extLst>
              </a:tr>
              <a:tr h="593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Lack of personalized healthcare decision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AI-driven personalized recommendation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923123"/>
                  </a:ext>
                </a:extLst>
              </a:tr>
              <a:tr h="593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Absence of urgency-based path selection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Severity-based treatment prioritization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902614"/>
                  </a:ext>
                </a:extLst>
              </a:tr>
              <a:tr h="593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integration of cost &amp;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Geolocation-based affordability filter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370335"/>
                  </a:ext>
                </a:extLst>
              </a:tr>
              <a:tr h="593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Lack of preventive wellness suggestions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Lifestyle and habit-based personalized advice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906405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CD70F3DD-1741-086B-8B2C-3DD33EA3F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81554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Slide 4 – Gap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7E308-472C-C922-ED99-F204EDEB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b="1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8680E-45A8-8376-775F-E0FEEC50A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proposed system collects user health symptoms, demographics, and preferences.</a:t>
            </a:r>
          </a:p>
          <a:p>
            <a:r>
              <a:rPr lang="en-US" dirty="0"/>
              <a:t>It applies NLP-based text analysis to interpret health </a:t>
            </a:r>
            <a:r>
              <a:rPr lang="en-US" dirty="0" err="1"/>
              <a:t>inputs.An</a:t>
            </a:r>
            <a:r>
              <a:rPr lang="en-US" dirty="0"/>
              <a:t> ML-based severity model classifies cases as mild, moderate, or severe.</a:t>
            </a:r>
          </a:p>
          <a:p>
            <a:r>
              <a:rPr lang="en-US" dirty="0"/>
              <a:t>A decision engine suggests the best treatment </a:t>
            </a:r>
            <a:r>
              <a:rPr lang="en-US" dirty="0" err="1"/>
              <a:t>path:Home</a:t>
            </a:r>
            <a:r>
              <a:rPr lang="en-US" dirty="0"/>
              <a:t> remedies or lifestyle care (mild)Nearby clinics/doctors (moderate)Emergency services (severe)System recommends diet, exercise, and recovery routines.</a:t>
            </a:r>
          </a:p>
          <a:p>
            <a:r>
              <a:rPr lang="en-US" dirty="0"/>
              <a:t>Includes affordability and proximity filters for practical guidance.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8154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8959C-2620-1FD4-1918-C9EF78DCB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b="1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148AF-1A66-06ED-E7DF-F8AFC01CE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User Input Interface – Collects user data &amp; symptoms.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NLP Processor – Extracts keywords &amp; symptoms.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Severity Prediction Model – Predicts case severity.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Decision Engine – Determines optimal treatment path.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Recommendation Engine – Suggests nearby doctors or care options.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Feedback Analyzer – Improves system accuracy via user input.</a:t>
            </a:r>
          </a:p>
        </p:txBody>
      </p:sp>
    </p:spTree>
    <p:extLst>
      <p:ext uri="{BB962C8B-B14F-4D97-AF65-F5344CB8AC3E}">
        <p14:creationId xmlns:p14="http://schemas.microsoft.com/office/powerpoint/2010/main" val="2240509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8D5E2-505A-9542-40C8-BB40E831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703" y="33681"/>
            <a:ext cx="10515600" cy="1140212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b="1" dirty="0"/>
              <a:t>Architecture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32524-DB50-66A0-0260-46614B884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855"/>
            <a:ext cx="10429103" cy="504910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6E959D-4D3A-627F-2C42-0C6FE9088197}"/>
              </a:ext>
            </a:extLst>
          </p:cNvPr>
          <p:cNvSpPr/>
          <p:nvPr/>
        </p:nvSpPr>
        <p:spPr>
          <a:xfrm>
            <a:off x="4460274" y="1173893"/>
            <a:ext cx="2082628" cy="7450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UI (Mobile/Web App)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B0444F-5D1B-E51A-55C7-EB54335E239E}"/>
              </a:ext>
            </a:extLst>
          </p:cNvPr>
          <p:cNvSpPr/>
          <p:nvPr/>
        </p:nvSpPr>
        <p:spPr>
          <a:xfrm>
            <a:off x="4417540" y="2415746"/>
            <a:ext cx="2224216" cy="1013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NLP Preprocessing(Text  </a:t>
            </a:r>
            <a:r>
              <a:rPr lang="en-IN" dirty="0" err="1"/>
              <a:t>Cleaning,feature</a:t>
            </a:r>
            <a:r>
              <a:rPr lang="en-IN" dirty="0"/>
              <a:t> Extraction)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73186B-A56B-878D-E537-106F958324AA}"/>
              </a:ext>
            </a:extLst>
          </p:cNvPr>
          <p:cNvSpPr/>
          <p:nvPr/>
        </p:nvSpPr>
        <p:spPr>
          <a:xfrm>
            <a:off x="4460274" y="3789727"/>
            <a:ext cx="2398240" cy="1013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ML Severity Model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A160CFE-14D7-2E07-72A3-C5E635461493}"/>
              </a:ext>
            </a:extLst>
          </p:cNvPr>
          <p:cNvSpPr/>
          <p:nvPr/>
        </p:nvSpPr>
        <p:spPr>
          <a:xfrm>
            <a:off x="4775886" y="5119383"/>
            <a:ext cx="1767016" cy="1147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Decision Engine(AI Layer)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F13BFA2-B30E-D211-AC75-C7B42D95201B}"/>
              </a:ext>
            </a:extLst>
          </p:cNvPr>
          <p:cNvSpPr/>
          <p:nvPr/>
        </p:nvSpPr>
        <p:spPr>
          <a:xfrm>
            <a:off x="7179276" y="5119383"/>
            <a:ext cx="1878227" cy="11402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Recommendation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B34B71-0494-2DA5-01B5-9516EC15730D}"/>
              </a:ext>
            </a:extLst>
          </p:cNvPr>
          <p:cNvSpPr/>
          <p:nvPr/>
        </p:nvSpPr>
        <p:spPr>
          <a:xfrm>
            <a:off x="9675341" y="5214551"/>
            <a:ext cx="1433383" cy="10450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Feedback Module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EEE8E2DA-D8D7-E136-583B-585E628B0B85}"/>
              </a:ext>
            </a:extLst>
          </p:cNvPr>
          <p:cNvSpPr/>
          <p:nvPr/>
        </p:nvSpPr>
        <p:spPr>
          <a:xfrm>
            <a:off x="5287332" y="1918981"/>
            <a:ext cx="285565" cy="5176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5E8FB586-AD93-0ABF-7755-234CD317C3C5}"/>
              </a:ext>
            </a:extLst>
          </p:cNvPr>
          <p:cNvSpPr/>
          <p:nvPr/>
        </p:nvSpPr>
        <p:spPr>
          <a:xfrm>
            <a:off x="5375189" y="4802981"/>
            <a:ext cx="333633" cy="3607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2428CD51-6675-5D29-40A9-FEC9F51E8AC6}"/>
              </a:ext>
            </a:extLst>
          </p:cNvPr>
          <p:cNvSpPr/>
          <p:nvPr/>
        </p:nvSpPr>
        <p:spPr>
          <a:xfrm>
            <a:off x="5412259" y="3431222"/>
            <a:ext cx="203887" cy="3793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A75C54F-7B23-B369-0CE4-47B54E32D3B8}"/>
              </a:ext>
            </a:extLst>
          </p:cNvPr>
          <p:cNvSpPr/>
          <p:nvPr/>
        </p:nvSpPr>
        <p:spPr>
          <a:xfrm>
            <a:off x="6542902" y="5597611"/>
            <a:ext cx="617838" cy="2995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34F0887-20F6-04E1-7465-D5174D6A5E91}"/>
              </a:ext>
            </a:extLst>
          </p:cNvPr>
          <p:cNvSpPr/>
          <p:nvPr/>
        </p:nvSpPr>
        <p:spPr>
          <a:xfrm>
            <a:off x="9027558" y="5597611"/>
            <a:ext cx="647783" cy="2995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705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F8E00-60E9-E9A6-9B7B-02D05EE68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b="1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6C798-C5AB-4160-4CFB-9FB13E2EF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collection from verified health datasets &amp; user inputs.</a:t>
            </a:r>
          </a:p>
          <a:p>
            <a:r>
              <a:rPr lang="en-IN" dirty="0"/>
              <a:t>Preprocessing using NLP for text normalization.</a:t>
            </a:r>
          </a:p>
          <a:p>
            <a:r>
              <a:rPr lang="en-IN" dirty="0"/>
              <a:t>Model training using supervised ML algorithms (e.g., Random Forest, SVM).</a:t>
            </a:r>
          </a:p>
          <a:p>
            <a:r>
              <a:rPr lang="en-IN" dirty="0"/>
              <a:t>Severity classification and treatment mapping.</a:t>
            </a:r>
          </a:p>
          <a:p>
            <a:r>
              <a:rPr lang="en-IN" dirty="0"/>
              <a:t>Integration of geolocation &amp; cost-based filtering.</a:t>
            </a:r>
          </a:p>
          <a:p>
            <a:r>
              <a:rPr lang="en-IN" dirty="0"/>
              <a:t>Personalized lifestyle recommendation generation.</a:t>
            </a:r>
          </a:p>
          <a:p>
            <a:r>
              <a:rPr lang="en-IN" dirty="0"/>
              <a:t>Continuous learning through user feedback.</a:t>
            </a:r>
          </a:p>
        </p:txBody>
      </p:sp>
    </p:spTree>
    <p:extLst>
      <p:ext uri="{BB962C8B-B14F-4D97-AF65-F5344CB8AC3E}">
        <p14:creationId xmlns:p14="http://schemas.microsoft.com/office/powerpoint/2010/main" val="2815637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3ED77-A01B-2851-DBB0-7D8B32E3F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b="1" dirty="0"/>
              <a:t>Example Scenarios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9107BEB-E159-FB63-4161-DB81D8A2C2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2001907"/>
              </p:ext>
            </p:extLst>
          </p:nvPr>
        </p:nvGraphicFramePr>
        <p:xfrm>
          <a:off x="838200" y="1690688"/>
          <a:ext cx="9504405" cy="3825496"/>
        </p:xfrm>
        <a:graphic>
          <a:graphicData uri="http://schemas.openxmlformats.org/drawingml/2006/table">
            <a:tbl>
              <a:tblPr/>
              <a:tblGrid>
                <a:gridCol w="1051702">
                  <a:extLst>
                    <a:ext uri="{9D8B030D-6E8A-4147-A177-3AD203B41FA5}">
                      <a16:colId xmlns:a16="http://schemas.microsoft.com/office/drawing/2014/main" val="2885697415"/>
                    </a:ext>
                  </a:extLst>
                </a:gridCol>
                <a:gridCol w="2750060">
                  <a:extLst>
                    <a:ext uri="{9D8B030D-6E8A-4147-A177-3AD203B41FA5}">
                      <a16:colId xmlns:a16="http://schemas.microsoft.com/office/drawing/2014/main" val="65267295"/>
                    </a:ext>
                  </a:extLst>
                </a:gridCol>
                <a:gridCol w="1900881">
                  <a:extLst>
                    <a:ext uri="{9D8B030D-6E8A-4147-A177-3AD203B41FA5}">
                      <a16:colId xmlns:a16="http://schemas.microsoft.com/office/drawing/2014/main" val="499000341"/>
                    </a:ext>
                  </a:extLst>
                </a:gridCol>
                <a:gridCol w="1900881">
                  <a:extLst>
                    <a:ext uri="{9D8B030D-6E8A-4147-A177-3AD203B41FA5}">
                      <a16:colId xmlns:a16="http://schemas.microsoft.com/office/drawing/2014/main" val="2477976348"/>
                    </a:ext>
                  </a:extLst>
                </a:gridCol>
                <a:gridCol w="1900881">
                  <a:extLst>
                    <a:ext uri="{9D8B030D-6E8A-4147-A177-3AD203B41FA5}">
                      <a16:colId xmlns:a16="http://schemas.microsoft.com/office/drawing/2014/main" val="107895132"/>
                    </a:ext>
                  </a:extLst>
                </a:gridCol>
              </a:tblGrid>
              <a:tr h="800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Case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User Input (Symptoms)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Predicted Severity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AI Recommendation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Output Type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02950"/>
                  </a:ext>
                </a:extLst>
              </a:tr>
              <a:tr h="119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Case 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Headache, eye strain, lack of sleep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Suggest rest, hydration, relaxation techniques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Self-care guidance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621036"/>
                  </a:ext>
                </a:extLst>
              </a:tr>
              <a:tr h="800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Case 2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Fever, body pain, fatigue (3 days)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Recommend nearby affordable clinic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Doctor consultation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741468"/>
                  </a:ext>
                </a:extLst>
              </a:tr>
              <a:tr h="800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Case 3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Chest pain, shortness of breath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Severe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Advise immediate emergency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Emergency referral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04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143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A1FE-54BA-8FFB-F3AD-E5641FA1A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b="1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D87A5-0999-7A9E-4BA7-D0BD89AAE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AI-driven personalized treatment recommendations.</a:t>
            </a:r>
          </a:p>
          <a:p>
            <a:r>
              <a:rPr lang="en-US" dirty="0"/>
              <a:t>Reduced dependency on unreliable online advice.</a:t>
            </a:r>
          </a:p>
          <a:p>
            <a:r>
              <a:rPr lang="en-US" dirty="0"/>
              <a:t>Improved access to affordable, nearby healthcare options.</a:t>
            </a:r>
          </a:p>
          <a:p>
            <a:r>
              <a:rPr lang="en-US" dirty="0"/>
              <a:t>Enhanced user awareness and preventive health behavior.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9665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FC45-C203-127A-C985-16BA27C49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20EBF-4868-B8C0-7FB9-1C18515F1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proposed </a:t>
            </a:r>
            <a:r>
              <a:rPr lang="en-US" b="1" dirty="0"/>
              <a:t>AI-Based Intelligent Healthcare Path Recommendation System</a:t>
            </a:r>
            <a:r>
              <a:rPr lang="en-US" dirty="0"/>
              <a:t> bridges the gap between medical guidance and real-world accessibility.</a:t>
            </a:r>
          </a:p>
          <a:p>
            <a:r>
              <a:rPr lang="en-US" dirty="0"/>
              <a:t>By combining symptom analysis, severity prediction, and proximity-based recommendations, it empowers individuals to make </a:t>
            </a:r>
            <a:r>
              <a:rPr lang="en-US" b="1" dirty="0"/>
              <a:t>data-driven, safe, and cost-effective health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8691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29094-0A7A-3DFA-27B6-B5F584A523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6600" b="1" dirty="0"/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2821303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5870</TotalTime>
  <Words>803</Words>
  <Application>Microsoft Office PowerPoint</Application>
  <PresentationFormat>Widescreen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AI-Based Healthcare Path Recommendation System</vt:lpstr>
      <vt:lpstr>Introduction</vt:lpstr>
      <vt:lpstr>Problem Statement </vt:lpstr>
      <vt:lpstr>Objectives</vt:lpstr>
      <vt:lpstr>Literature Survey</vt:lpstr>
      <vt:lpstr>Gap Analysis</vt:lpstr>
      <vt:lpstr>Proposed Solution</vt:lpstr>
      <vt:lpstr>System Architecture</vt:lpstr>
      <vt:lpstr>Architecture Diagram</vt:lpstr>
      <vt:lpstr>Methodology</vt:lpstr>
      <vt:lpstr>Example Scenarios</vt:lpstr>
      <vt:lpstr>Expected Outcome</vt:lpstr>
      <vt:lpstr>Conclusion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Ashwini Joshi</dc:creator>
  <cp:lastModifiedBy>Ashwini Joshi</cp:lastModifiedBy>
  <cp:revision>2</cp:revision>
  <dcterms:created xsi:type="dcterms:W3CDTF">2025-11-03T10:26:55Z</dcterms:created>
  <dcterms:modified xsi:type="dcterms:W3CDTF">2025-12-12T10:51:18Z</dcterms:modified>
</cp:coreProperties>
</file>